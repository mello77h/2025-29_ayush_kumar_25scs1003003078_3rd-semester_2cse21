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106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10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291840"/>
            <a:ext cx="6400800" cy="6400800"/>
          </a:xfrm>
          <a:prstGeom prst="ellipse">
            <a:avLst/>
          </a:prstGeom>
          <a:ln w="28575">
            <a:solidFill>
              <a:srgbClr val="2E3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023360"/>
            <a:ext cx="4937760" cy="4937760"/>
          </a:xfrm>
          <a:prstGeom prst="ellipse">
            <a:avLst/>
          </a:prstGeom>
          <a:ln w="28575">
            <a:solidFill>
              <a:srgbClr val="3340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754880"/>
            <a:ext cx="3474720" cy="3474720"/>
          </a:xfrm>
          <a:prstGeom prst="ellipse">
            <a:avLst/>
          </a:prstGeom>
          <a:ln w="28575">
            <a:solidFill>
              <a:srgbClr val="3A4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566928"/>
            <a:ext cx="91440" cy="9144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566928"/>
            <a:ext cx="91440" cy="9144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566928"/>
            <a:ext cx="91440" cy="9144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9" name="Shape 7"/>
          <p:cNvSpPr/>
          <p:nvPr/>
        </p:nvSpPr>
        <p:spPr>
          <a:xfrm>
            <a:off x="1719072" y="566928"/>
            <a:ext cx="91440" cy="9144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1704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Marine Risk Intelligence &amp; Community Reporting Platform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•  2026–27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370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Year, 3rd Semester  |  B.Tech CSE (Section: 2CSE 21)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4206240" cy="0"/>
          </a:xfrm>
          <a:prstGeom prst="line">
            <a:avLst/>
          </a:prstGeom>
          <a:noFill/>
          <a:ln w="15875">
            <a:solidFill>
              <a:srgbClr val="3A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3036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54126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25SCS1003003078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852160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Organisation: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Group (Centre for Sustainable Community Development)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MARINE RISK INTELLIGENCE &amp; COMMUNITY REPORTING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 •  IILM University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91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geospatial marine intelligence system that fuses satellite sea-surface temperature (SST) data, community-reported coastal incidents, and spatial analysis tools to identify at-risk marine zones and support early environmental response.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∿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E3EEF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61188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Focus
</a:t>
            </a: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satellite climate data with citizen reporting to flag marine heat and pollution risk zones early.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709160"/>
            <a:ext cx="502920" cy="502920"/>
          </a:xfrm>
          <a:prstGeom prst="ellipse">
            <a:avLst/>
          </a:prstGeom>
          <a:solidFill>
            <a:srgbClr val="E3EEF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6177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
</a:t>
            </a: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spatial layers and dashboards for conservation teams to act on before damage occurs.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1417320"/>
            <a:ext cx="28849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61888" y="16184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961888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61888" y="2148840"/>
            <a:ext cx="24825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61888" y="2624328"/>
            <a:ext cx="24825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SST from NOAA, OISST, NCEI, and OceanSODA plus ocean chemistry indicators (pH, salinity, dissolved CO₂).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46820" y="1417320"/>
            <a:ext cx="28849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47988" y="16184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047988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47988" y="2148840"/>
            <a:ext cx="24825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Anomaly Engine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47988" y="2624328"/>
            <a:ext cx="24825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as Current SST − Historical Mean against the 1991–2020 climatology baseline.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3950208"/>
            <a:ext cx="28849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61888" y="415137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961888" y="4151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961888" y="4681728"/>
            <a:ext cx="24825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Risk Mapping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61888" y="5157216"/>
            <a:ext cx="24825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+ PostGIS spatial layers, vector grid remapping, IDW interpolation, and risk-zone classification.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46820" y="3950208"/>
            <a:ext cx="28849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47988" y="415137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9047988" y="4151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47988" y="4681728"/>
            <a:ext cx="24825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Platform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47988" y="5157216"/>
            <a:ext cx="24825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incident reporting with automated geographic verification against computed risk layers.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MARINE RISK INTELLIGENCE &amp; COMMUNITY REPORTING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 •  IILM University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00116" cy="221742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70992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60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Ocean Temperatures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4860036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sea-surface warming triggers coral bleaching, species migration, and habitat damage across marine ecosystems.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54864" cy="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6231636" y="1508760"/>
            <a:ext cx="5500116" cy="221742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5956" y="170992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51676" y="2377440"/>
            <a:ext cx="4860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Accessibility Gap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51676" y="2807208"/>
            <a:ext cx="4860036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remote-sensing formats (NetCDF/HDF5) require specialized processing, keeping raw intelligence out of reach of grassroots NGOs.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1636" y="1508760"/>
            <a:ext cx="54864" cy="0"/>
          </a:xfrm>
          <a:prstGeom prst="rect">
            <a:avLst/>
          </a:prstGeom>
          <a:ln/>
        </p:spPr>
      </p:sp>
      <p:sp>
        <p:nvSpPr>
          <p:cNvPr id="16" name="Shape 14"/>
          <p:cNvSpPr/>
          <p:nvPr/>
        </p:nvSpPr>
        <p:spPr>
          <a:xfrm>
            <a:off x="457200" y="4000500"/>
            <a:ext cx="5500116" cy="221742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20166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77240" y="4869180"/>
            <a:ext cx="4860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&amp; Format Inconsistencies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298948"/>
            <a:ext cx="4860036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datasets arrive in conflicting coordinate conventions (0°–360° vs −180° to +180°) and isolated silos.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000500"/>
            <a:ext cx="54864" cy="0"/>
          </a:xfrm>
          <a:prstGeom prst="rect">
            <a:avLst/>
          </a:prstGeom>
          <a:ln/>
        </p:spPr>
      </p:sp>
      <p:sp>
        <p:nvSpPr>
          <p:cNvPr id="21" name="Shape 19"/>
          <p:cNvSpPr/>
          <p:nvPr/>
        </p:nvSpPr>
        <p:spPr>
          <a:xfrm>
            <a:off x="6231636" y="4000500"/>
            <a:ext cx="5500116" cy="221742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05956" y="420166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51676" y="4869180"/>
            <a:ext cx="4860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Environmental Response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51676" y="5298948"/>
            <a:ext cx="4860036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unified real-time spatial platforms forces authorities to react after damage occurs rather than during early heat build-up.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31636" y="4000500"/>
            <a:ext cx="54864" cy="0"/>
          </a:xfrm>
          <a:prstGeom prst="rect">
            <a:avLst/>
          </a:prstGeom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MARINE RISK INTELLIGENCE &amp; COMMUNITY REPORTING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 •  IILM University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53896"/>
            <a:ext cx="48188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and process satellite SST telemetry from NOAA, OISST, NCEI, and OceanSODA.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877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2532888"/>
            <a:ext cx="48188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continuous SST anomalies using the 1991–2020 historical climatology baseline.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667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66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3611880"/>
            <a:ext cx="48188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clean, projection-aligned GIS layers for raw SST, anomalies, and classified risk zones.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7457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45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4690872"/>
            <a:ext cx="48188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marine heatwave spread and spatial footprints to aid coastal decision-makers.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91072" y="1508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12864" y="1453896"/>
            <a:ext cx="48188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field incident logging with spatial verification against live heatwave boundaries.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91072" y="25877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12864" y="2532888"/>
            <a:ext cx="48188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 multi-parameter risk matrix combining SST anomalies, pH, salinity, and CO₂.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91072" y="36667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3666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12864" y="3611880"/>
            <a:ext cx="481888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verified spatial layers and web dashboard components for environmental conservation teams.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MARINE RISK INTELLIGENCE &amp; COMMUNITY REPORTING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 •  IILM University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587496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130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Engineering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2761488"/>
            <a:ext cx="3130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Desktop 3.x (EPSG:4326 - WGS 84), PostGIS, IDW Interpolation, QGIS Print Layout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00728" y="1463040"/>
            <a:ext cx="3587496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9328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293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9328" y="2286000"/>
            <a:ext cx="3130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Scripting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9328" y="2761488"/>
            <a:ext cx="3130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Pandas, NumPy, Xarray, NetCDF4, CSV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44256" y="1463040"/>
            <a:ext cx="3587496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2856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372856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2856" y="2286000"/>
            <a:ext cx="3130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Database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72856" y="2761488"/>
            <a:ext cx="3130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PostGIS spatial extensions, pgAdmin, Prisma ORM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3587496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41970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4791456"/>
            <a:ext cx="3130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Pipeline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5800" y="5266944"/>
            <a:ext cx="3130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REST APIs, automated Python ETL ingestion routines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00728" y="3968496"/>
            <a:ext cx="3587496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9328" y="41970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529328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29328" y="4791456"/>
            <a:ext cx="3130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Visualization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29328" y="5266944"/>
            <a:ext cx="3130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Plotly Express, Mapbox GL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44256" y="3968496"/>
            <a:ext cx="3587496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72856" y="41970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8372856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72856" y="4791456"/>
            <a:ext cx="3130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Providers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372856" y="5266944"/>
            <a:ext cx="3130296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NOAA, OISST, NCEI, OceanSODA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MARINE RISK INTELLIGENCE &amp; COMMUNITY REPORTING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 &amp; Responsibilities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 •  IILM University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ROLE  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ENGINEER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8658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86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50337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Correction &amp; Projection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633472"/>
            <a:ext cx="503377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and implemented the transformation logic to resolve the 0°–360° to −180°/+180° wrap error for seamless WGS 84 rendering.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5060" y="238658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195060" y="2386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97980" y="2331720"/>
            <a:ext cx="50337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Bounding &amp; Isolation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97980" y="2633472"/>
            <a:ext cx="503377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targeted ecological zones (Tropical Atlantic: Lat −20° to 20°, Lon −60° to 15°) to eliminate extraneous global computation.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795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79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724656"/>
            <a:ext cx="50337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Styling &amp; Symbology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4026408"/>
            <a:ext cx="503377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graduated square grid representations using sequential color scales mapped directly to SST_Anomaly without boundary-line distortion.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5060" y="37795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195060" y="3779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7980" y="3724656"/>
            <a:ext cx="50337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Interpolation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97980" y="4026408"/>
            <a:ext cx="503377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IDW and risk-threshold zoning (Risk_Label ≥ 1) to delineate thermal stress corridors.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17245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172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5117592"/>
            <a:ext cx="50337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Engine &amp; Layout Design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0120" y="5419344"/>
            <a:ext cx="503377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high-resolution vector PDF layouts and bypassed WMS server tiling/DPI bottlenecks.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5060" y="517245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195060" y="5172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97980" y="5117592"/>
            <a:ext cx="50337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Data Hand-Off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97980" y="5419344"/>
            <a:ext cx="5033772" cy="844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clean spatial datasets (fixed_atlantic_heatwaves.csv) and engineered interactive Plotly/Streamlit mapping code for the front-end team.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MARINE RISK INTELLIGENCE &amp; COMMUNITY REPORTING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8-Step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 •  IILM University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36692" cy="1026414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793367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9336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618488"/>
            <a:ext cx="45765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929384"/>
            <a:ext cx="4576572" cy="523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telemetry acquisition across NOAA/OISST feeds.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0392" y="2535174"/>
            <a:ext cx="0" cy="201168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36342"/>
            <a:ext cx="5536692" cy="1026414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020949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02094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846070"/>
            <a:ext cx="45765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Sanitization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156966"/>
            <a:ext cx="4576572" cy="523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incomplete observations and stripping sensor noise.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0392" y="3762756"/>
            <a:ext cx="0" cy="201168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63924"/>
            <a:ext cx="5536692" cy="1026414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4248531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24853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4073652"/>
            <a:ext cx="45765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Normalization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384548"/>
            <a:ext cx="4576572" cy="523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Re-centering longitudes into standard EPSG:4326 bounds.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0392" y="4990338"/>
            <a:ext cx="0" cy="201168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191506"/>
            <a:ext cx="5536692" cy="1026414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" y="5476113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547611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5301234"/>
            <a:ext cx="45765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Calculation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5612130"/>
            <a:ext cx="4576572" cy="523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deviations against 30-year climatological baselines.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5060" y="1508760"/>
            <a:ext cx="5536692" cy="1026414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9652" y="1793367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359652" y="179336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72300" y="1618488"/>
            <a:ext cx="45765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Risk-Zone Classification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72300" y="1929384"/>
            <a:ext cx="4576572" cy="523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Multi-parameter thresholding across temperature and chemistry metrics.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8252" y="2535174"/>
            <a:ext cx="0" cy="201168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5060" y="2736342"/>
            <a:ext cx="5536692" cy="1026414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59652" y="3020949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6359652" y="302094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72300" y="2846070"/>
            <a:ext cx="45765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Optimization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72300" y="3156966"/>
            <a:ext cx="4576572" cy="523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downsampling (0.25° → 10°) for real-time map rendering.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88252" y="3762756"/>
            <a:ext cx="0" cy="201168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95060" y="3963924"/>
            <a:ext cx="5536692" cy="1026414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9652" y="4248531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6359652" y="424853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72300" y="4073652"/>
            <a:ext cx="45765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Styling &amp; Layout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72300" y="4384548"/>
            <a:ext cx="4576572" cy="523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graduated classification, vector styling, and PDF map publishing.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588252" y="4990338"/>
            <a:ext cx="0" cy="201168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95060" y="5191506"/>
            <a:ext cx="5536692" cy="1026414"/>
          </a:xfrm>
          <a:prstGeom prst="roundRect">
            <a:avLst>
              <a:gd name="adj" fmla="val 71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59652" y="5476113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9" name="Text 47"/>
          <p:cNvSpPr/>
          <p:nvPr/>
        </p:nvSpPr>
        <p:spPr>
          <a:xfrm>
            <a:off x="6359652" y="547611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72300" y="5301234"/>
            <a:ext cx="45765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Delivery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72300" y="5612130"/>
            <a:ext cx="4576572" cy="523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Plotly Express map modules for interactive Streamlit display.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MARINE RISK INTELLIGENCE &amp; COMMUNITY REPORTING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Contributions &amp; Challenges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 •  IILM University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406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6420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121408"/>
            <a:ext cx="310896" cy="310896"/>
          </a:xfrm>
          <a:prstGeom prst="ellipse">
            <a:avLst/>
          </a:prstGeom>
          <a:solidFill>
            <a:srgbClr val="E3EEF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21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066544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the critical date-line split by designing the spatial wrap algorithm: if Lon &gt; 180 then Lon − 360.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10896" cy="310896"/>
          </a:xfrm>
          <a:prstGeom prst="ellipse">
            <a:avLst/>
          </a:prstGeom>
          <a:solidFill>
            <a:srgbClr val="E3EEF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3054096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grid overlap errors in QGIS, structuring seamless square symbology for 3,200+ spatial points.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096512"/>
            <a:ext cx="310896" cy="310896"/>
          </a:xfrm>
          <a:prstGeom prst="ellipse">
            <a:avLst/>
          </a:prstGeom>
          <a:solidFill>
            <a:srgbClr val="E3EEF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404164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the Tropical Atlantic corridor bounding matrix, trimming dataset overhead while preserving regional hotspot accuracy.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084064"/>
            <a:ext cx="310896" cy="310896"/>
          </a:xfrm>
          <a:prstGeom prst="ellipse">
            <a:avLst/>
          </a:prstGeom>
          <a:solidFill>
            <a:srgbClr val="E3EEF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084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50292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ready-to-run Python/Plotly integration code allowing front-end devs to embed the live spatial map in minutes.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91072" y="1463040"/>
            <a:ext cx="54406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65392" y="166420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65392" y="2121408"/>
            <a:ext cx="310896" cy="310896"/>
          </a:xfrm>
          <a:prstGeom prst="ellipse">
            <a:avLst/>
          </a:prstGeom>
          <a:solidFill>
            <a:srgbClr val="FCEEEC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2121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04304" y="2048256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 Wrap Issue
</a:t>
            </a: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 programmatic vector coordinate transformation before GIS ingestion.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65392" y="3108960"/>
            <a:ext cx="310896" cy="310896"/>
          </a:xfrm>
          <a:prstGeom prst="ellipse">
            <a:avLst/>
          </a:prstGeom>
          <a:solidFill>
            <a:srgbClr val="FCEEEC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3108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04304" y="303580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Symbology Distortion
</a:t>
            </a: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Overcame dense circular marker clutter by converting layers into border-free grid squares.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65392" y="4096512"/>
            <a:ext cx="310896" cy="310896"/>
          </a:xfrm>
          <a:prstGeom prst="ellipse">
            <a:avLst/>
          </a:prstGeom>
          <a:solidFill>
            <a:srgbClr val="FCEEEC"/>
          </a:solidFill>
          <a:ln/>
        </p:spPr>
      </p:sp>
      <p:sp>
        <p:nvSpPr>
          <p:cNvPr id="29" name="Text 27"/>
          <p:cNvSpPr/>
          <p:nvPr/>
        </p:nvSpPr>
        <p:spPr>
          <a:xfrm>
            <a:off x="6565392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04304" y="40233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Export Limits
</a:t>
            </a: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server tile dropouts during PDF export by managing request dimensions and DPI scaling.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65392" y="5084064"/>
            <a:ext cx="310896" cy="310896"/>
          </a:xfrm>
          <a:prstGeom prst="ellipse">
            <a:avLst/>
          </a:prstGeom>
          <a:solidFill>
            <a:srgbClr val="FCEEEC"/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5084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04304" y="5010912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Interoperability
</a:t>
            </a: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consistency between flat CSV matrices, PostGIS geometry, and browser-rendered Mapbox layers.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MARINE RISK INTELLIGENCE &amp; COMMUNITY REPORTING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 •  IILM University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1508760"/>
            <a:ext cx="9628632" cy="804672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16824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82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158191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581912"/>
            <a:ext cx="5650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· OISST · NCEI · OceanSODA satellite telemetry (NetCDF / CSV)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91640" y="2313432"/>
            <a:ext cx="0" cy="146304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2459736"/>
            <a:ext cx="9628632" cy="804672"/>
          </a:xfrm>
          <a:prstGeom prst="roundRect">
            <a:avLst>
              <a:gd name="adj" fmla="val 9091"/>
            </a:avLst>
          </a:prstGeom>
          <a:solidFill>
            <a:srgbClr val="0E6C93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63040" y="26334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253288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GIS Processing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2532888"/>
            <a:ext cx="5650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NumPy, Xarray) → Coordinate realignment → Anomaly engine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91640" y="3264408"/>
            <a:ext cx="0" cy="146304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3410712"/>
            <a:ext cx="9628632" cy="804672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63040" y="35844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03120" y="34838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 Core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3483864"/>
            <a:ext cx="5650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· PostGIS geometry indexing · IDW interpolation · WGS 84 (EPSG:4326)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91640" y="4215384"/>
            <a:ext cx="0" cy="146304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0160" y="4361688"/>
            <a:ext cx="9628632" cy="804672"/>
          </a:xfrm>
          <a:prstGeom prst="roundRect">
            <a:avLst>
              <a:gd name="adj" fmla="val 9091"/>
            </a:avLst>
          </a:prstGeom>
          <a:solidFill>
            <a:srgbClr val="2E8A98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463040" y="45354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463040" y="4535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103120" y="44348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4434840"/>
            <a:ext cx="5650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REST APIs · PostgreSQL / PostGIS database · Prisma 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691640" y="5166360"/>
            <a:ext cx="0" cy="146304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5312664"/>
            <a:ext cx="9628632" cy="804672"/>
          </a:xfrm>
          <a:prstGeom prst="roundRect">
            <a:avLst>
              <a:gd name="adj" fmla="val 9091"/>
            </a:avLst>
          </a:prstGeom>
          <a:solidFill>
            <a:srgbClr val="3B9AA0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463040" y="5486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46304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103120" y="538581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74920" y="5385816"/>
            <a:ext cx="5650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 · Plotly Express heatwave maps · Community verification portal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MARINE RISK INTELLIGENCE &amp; COMMUNITY REPORTING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  •  IILM University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2297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Integrity Matters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221992"/>
            <a:ext cx="4974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small coordinate reference mismatches can displace entire ocean basins across the map canvas.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08776" y="1508760"/>
            <a:ext cx="552297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37376" y="170992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37376" y="1709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86016" y="1691640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Cartographic Precision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83096" y="2221992"/>
            <a:ext cx="4974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requires thoughtful symbology design; selecting proper classification intervals turns obscure numbers into actionable visual insight.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552297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5584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337560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for Web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3867912"/>
            <a:ext cx="4974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spatial rasters must be structured, binned, and indexed properly before being fed to client-side dashboards.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08776" y="3154680"/>
            <a:ext cx="552297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733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37376" y="335584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37376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86016" y="3337560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Synthesis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83096" y="3867912"/>
            <a:ext cx="4974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connected core computer science techniques (Python algorithms, spatial databases) to active environmental conservation science.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9834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5138928"/>
            <a:ext cx="457200" cy="457200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4983480"/>
            <a:ext cx="10085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Delivery  —  </a:t>
            </a:r>
            <a:r>
              <a:rPr lang="en-US" sz="11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code and documentation for seamless team hand-off is as crucial as individual model building.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463040"/>
            <a:ext cx="5943600" cy="5943600"/>
          </a:xfrm>
          <a:prstGeom prst="ellipse">
            <a:avLst/>
          </a:prstGeom>
          <a:ln w="28575">
            <a:solidFill>
              <a:srgbClr val="2E3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731520"/>
            <a:ext cx="4480560" cy="4480560"/>
          </a:xfrm>
          <a:prstGeom prst="ellipse">
            <a:avLst/>
          </a:prstGeom>
          <a:ln w="28575">
            <a:solidFill>
              <a:srgbClr val="334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  |  IILM UNIVERSITY, GREATER NOIDA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2nd Year, 3rd Semester  |  Session 2026–27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delivered the geospatial data processing and cartographic pipeline for the MARS Marine Risk Platform — taking raw satellite feeds through rigorous coordinate correction into interactive, production-ready dashboard layers.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4206240" cy="0"/>
          </a:xfrm>
          <a:prstGeom prst="line">
            <a:avLst/>
          </a:prstGeom>
          <a:noFill/>
          <a:ln w="15875">
            <a:solidFill>
              <a:srgbClr val="3A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1879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25SCS1003003078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897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 21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79145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Organisation: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Group (Centre for Sustainable Community Development)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5778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5FBDB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577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1379</Words>
  <Application>Microsoft Office PowerPoint</Application>
  <PresentationFormat>Widescreen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Kumar</cp:lastModifiedBy>
  <cp:revision>1</cp:revision>
  <dcterms:created xsi:type="dcterms:W3CDTF">2026-09-10T16:16:32Z</dcterms:created>
  <dcterms:modified xsi:type="dcterms:W3CDTF">2026-09-10T16:19:26Z</dcterms:modified>
</cp:coreProperties>
</file>